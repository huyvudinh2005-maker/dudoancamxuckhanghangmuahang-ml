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3" r:id="rId6"/>
    <p:sldId id="261" r:id="rId7"/>
    <p:sldId id="260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1" r:id="rId1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7" autoAdjust="0"/>
    <p:restoredTop sz="84183" autoAdjust="0"/>
  </p:normalViewPr>
  <p:slideViewPr>
    <p:cSldViewPr>
      <p:cViewPr varScale="1">
        <p:scale>
          <a:sx n="66" d="100"/>
          <a:sy n="66" d="100"/>
        </p:scale>
        <p:origin x="2117" y="5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F9F71-3029-49AC-AB00-3B38FC09B1BD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82C1FC-ECAE-46AF-A43C-4B5337A52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338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2C1FC-ECAE-46AF-A43C-4B5337A5254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292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Các bạn có bao giờ thắc mắc tại sao trong các game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lính</a:t>
            </a:r>
            <a:r>
              <a:rPr lang="en-US" dirty="0"/>
              <a:t> hay </a:t>
            </a:r>
            <a:r>
              <a:rPr lang="en-US" dirty="0" err="1"/>
              <a:t>npc</a:t>
            </a:r>
            <a:r>
              <a:rPr lang="en-US" dirty="0"/>
              <a:t> hay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click </a:t>
            </a:r>
            <a:r>
              <a:rPr lang="en-US" dirty="0" err="1"/>
              <a:t>choột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1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đấy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né </a:t>
            </a:r>
            <a:r>
              <a:rPr lang="en-US" dirty="0" err="1"/>
              <a:t>trách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cản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1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nhanh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,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nhìn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 ta </a:t>
            </a:r>
            <a:r>
              <a:rPr lang="en-US" dirty="0" err="1"/>
              <a:t>nhìn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cối</a:t>
            </a:r>
            <a:r>
              <a:rPr lang="en-US" dirty="0"/>
              <a:t> hay </a:t>
            </a:r>
            <a:r>
              <a:rPr lang="en-US" dirty="0" err="1"/>
              <a:t>bức</a:t>
            </a:r>
            <a:r>
              <a:rPr lang="en-US" dirty="0"/>
              <a:t> </a:t>
            </a:r>
            <a:r>
              <a:rPr lang="en-US" dirty="0" err="1"/>
              <a:t>tường</a:t>
            </a:r>
            <a:r>
              <a:rPr lang="en-US" dirty="0"/>
              <a:t>,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vi-VN" dirty="0"/>
              <a:t>chỉ là một lưới khổng lồ các con số 0 v</a:t>
            </a:r>
            <a:r>
              <a:rPr lang="en-US" dirty="0"/>
              <a:t>à </a:t>
            </a:r>
            <a:r>
              <a:rPr lang="vi-VN" dirty="0"/>
              <a:t>1</a:t>
            </a:r>
            <a:r>
              <a:rPr lang="en-US" dirty="0"/>
              <a:t>. </a:t>
            </a:r>
            <a:r>
              <a:rPr lang="en-US" dirty="0" err="1"/>
              <a:t>Vậy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vẽ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1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ứu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game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giật</a:t>
            </a:r>
            <a:r>
              <a:rPr lang="en-US" dirty="0"/>
              <a:t> lag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ở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điển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mình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hôm</a:t>
            </a:r>
            <a:r>
              <a:rPr lang="en-US" dirty="0"/>
              <a:t> nay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2C1FC-ECAE-46AF-A43C-4B5337A5254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85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2C1FC-ECAE-46AF-A43C-4B5337A5254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467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2C1FC-ECAE-46AF-A43C-4B5337A5254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7246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hn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nhìn</a:t>
            </a:r>
            <a:r>
              <a:rPr lang="en-US" dirty="0"/>
              <a:t> </a:t>
            </a:r>
            <a:r>
              <a:rPr lang="en-US" dirty="0" err="1"/>
              <a:t>nhìn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đứng</a:t>
            </a:r>
            <a:r>
              <a:rPr lang="en-US" dirty="0"/>
              <a:t> 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ước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đương</a:t>
            </a:r>
            <a:r>
              <a:rPr lang="en-US" dirty="0"/>
              <a:t> </a:t>
            </a:r>
            <a:r>
              <a:rPr lang="en-US" dirty="0" err="1"/>
              <a:t>nhiên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bé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nhìn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tòa</a:t>
            </a:r>
            <a:r>
              <a:rPr lang="en-US" dirty="0"/>
              <a:t>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1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thẳng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ko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1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thẳng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rẽ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ngách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hay </a:t>
            </a:r>
            <a:r>
              <a:rPr lang="en-US" dirty="0" err="1"/>
              <a:t>ngõ</a:t>
            </a:r>
            <a:r>
              <a:rPr lang="en-US" dirty="0"/>
              <a:t> kia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tòa</a:t>
            </a:r>
            <a:r>
              <a:rPr lang="en-US" dirty="0"/>
              <a:t>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đó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2C1FC-ECAE-46AF-A43C-4B5337A5254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466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2C1FC-ECAE-46AF-A43C-4B5337A5254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4874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2C1FC-ECAE-46AF-A43C-4B5337A5254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7150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2C1FC-ECAE-46AF-A43C-4B5337A5254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18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4720" y="25400"/>
            <a:ext cx="4940935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53670">
              <a:lnSpc>
                <a:spcPts val="1810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/30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53670">
              <a:lnSpc>
                <a:spcPts val="1810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/30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53670">
              <a:lnSpc>
                <a:spcPts val="1810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/30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53670">
              <a:lnSpc>
                <a:spcPts val="1810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/30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53670">
              <a:lnSpc>
                <a:spcPts val="1810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/30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720" y="23876"/>
            <a:ext cx="4940935" cy="474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8807" y="1256664"/>
            <a:ext cx="7903845" cy="3303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62771" y="6579361"/>
            <a:ext cx="613283" cy="323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53670">
              <a:lnSpc>
                <a:spcPts val="1810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/30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microsoft.com/office/2007/relationships/hdphoto" Target="../media/hdphoto3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8640" y="66972"/>
            <a:ext cx="3862070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</a:t>
            </a:r>
            <a:r>
              <a:rPr sz="2400" spc="-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2400" spc="-5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edit</a:t>
            </a:r>
            <a:r>
              <a:rPr sz="2400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Master</a:t>
            </a:r>
            <a:r>
              <a:rPr sz="2400" spc="-6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r>
              <a:rPr sz="2400" spc="-4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style</a:t>
            </a:r>
            <a:endParaRPr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66998" y="3364848"/>
            <a:ext cx="5010003" cy="985526"/>
          </a:xfrm>
          <a:prstGeom prst="rect">
            <a:avLst/>
          </a:prstGeom>
        </p:spPr>
        <p:txBody>
          <a:bodyPr vert="horz" wrap="square" lIns="0" tIns="1885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85"/>
              </a:spcBef>
            </a:pP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bày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20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40" dirty="0">
                <a:latin typeface="Arial" panose="020B0604020202020204" pitchFamily="34" charset="0"/>
                <a:cs typeface="Arial" panose="020B0604020202020204" pitchFamily="34" charset="0"/>
              </a:rPr>
              <a:t>Vũ </a:t>
            </a:r>
            <a:r>
              <a:rPr lang="en-US" sz="2000" b="1" spc="-40" dirty="0" err="1">
                <a:latin typeface="Arial" panose="020B0604020202020204" pitchFamily="34" charset="0"/>
                <a:cs typeface="Arial" panose="020B0604020202020204" pitchFamily="34" charset="0"/>
              </a:rPr>
              <a:t>Đình</a:t>
            </a:r>
            <a:r>
              <a:rPr lang="en-US" sz="2000" b="1" spc="-40" dirty="0">
                <a:latin typeface="Arial" panose="020B0604020202020204" pitchFamily="34" charset="0"/>
                <a:cs typeface="Arial" panose="020B0604020202020204" pitchFamily="34" charset="0"/>
              </a:rPr>
              <a:t> Huy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1380"/>
              </a:spcBef>
            </a:pP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Giảng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dẫn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000" b="1" spc="-50" dirty="0">
                <a:latin typeface="Arial" panose="020B0604020202020204" pitchFamily="34" charset="0"/>
                <a:cs typeface="Arial" panose="020B0604020202020204" pitchFamily="34" charset="0"/>
              </a:rPr>
              <a:t> Nguyễn Văn Hậu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5818632"/>
            <a:ext cx="9144000" cy="1041400"/>
          </a:xfrm>
          <a:custGeom>
            <a:avLst/>
            <a:gdLst/>
            <a:ahLst/>
            <a:cxnLst/>
            <a:rect l="l" t="t" r="r" b="b"/>
            <a:pathLst>
              <a:path w="9144000" h="1041400">
                <a:moveTo>
                  <a:pt x="9144000" y="0"/>
                </a:moveTo>
                <a:lnTo>
                  <a:pt x="0" y="0"/>
                </a:lnTo>
                <a:lnTo>
                  <a:pt x="0" y="1040891"/>
                </a:lnTo>
                <a:lnTo>
                  <a:pt x="9144000" y="1040891"/>
                </a:lnTo>
                <a:lnTo>
                  <a:pt x="9144000" y="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0" tIns="0" rIns="0" bIns="0" rtlCol="0"/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50973" y="6214973"/>
            <a:ext cx="51574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HUNG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YEN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TECHNOLOGY</a:t>
            </a: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EDUCATION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7632" y="6019800"/>
            <a:ext cx="652271" cy="49834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30926" y="1820183"/>
            <a:ext cx="8984171" cy="54880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2065" rIns="0" bIns="0" rtlCol="0">
            <a:spAutoFit/>
          </a:bodyPr>
          <a:lstStyle/>
          <a:p>
            <a:pPr marL="518159" marR="5080" indent="-506095" algn="ctr">
              <a:lnSpc>
                <a:spcPct val="120000"/>
              </a:lnSpc>
              <a:spcBef>
                <a:spcPts val="95"/>
              </a:spcBef>
            </a:pP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Dự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đoán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cảm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xúc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cảm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mua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endParaRPr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object 8">
            <a:extLst>
              <a:ext uri="{FF2B5EF4-FFF2-40B4-BE49-F238E27FC236}">
                <a16:creationId xmlns:a16="http://schemas.microsoft.com/office/drawing/2014/main" id="{E472425A-0CD4-1200-A77F-FDB4234A298E}"/>
              </a:ext>
            </a:extLst>
          </p:cNvPr>
          <p:cNvSpPr/>
          <p:nvPr/>
        </p:nvSpPr>
        <p:spPr>
          <a:xfrm>
            <a:off x="0" y="-20995"/>
            <a:ext cx="9144000" cy="778779"/>
          </a:xfrm>
          <a:custGeom>
            <a:avLst/>
            <a:gdLst/>
            <a:ahLst/>
            <a:cxnLst/>
            <a:rect l="l" t="t" r="r" b="b"/>
            <a:pathLst>
              <a:path w="9144000" h="1041400">
                <a:moveTo>
                  <a:pt x="9144000" y="0"/>
                </a:moveTo>
                <a:lnTo>
                  <a:pt x="0" y="0"/>
                </a:lnTo>
                <a:lnTo>
                  <a:pt x="0" y="1040891"/>
                </a:lnTo>
                <a:lnTo>
                  <a:pt x="9144000" y="1040891"/>
                </a:lnTo>
                <a:lnTo>
                  <a:pt x="9144000" y="0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0" tIns="0" rIns="0" bIns="0" rtlCol="0"/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52600" y="148775"/>
            <a:ext cx="49053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0" spc="-15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Machine Learning</a:t>
            </a:r>
            <a:endParaRPr spc="-15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Google Shape;64;p14">
            <a:extLst>
              <a:ext uri="{FF2B5EF4-FFF2-40B4-BE49-F238E27FC236}">
                <a16:creationId xmlns:a16="http://schemas.microsoft.com/office/drawing/2014/main" id="{19AA7216-8848-0084-CD69-62409450B650}"/>
              </a:ext>
            </a:extLst>
          </p:cNvPr>
          <p:cNvSpPr txBox="1"/>
          <p:nvPr/>
        </p:nvSpPr>
        <p:spPr>
          <a:xfrm>
            <a:off x="130926" y="5468815"/>
            <a:ext cx="2668500" cy="5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8640" y="66972"/>
            <a:ext cx="3862070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Click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edit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title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style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000" y="1289183"/>
            <a:ext cx="5252085" cy="2139817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527685" indent="-514984">
              <a:lnSpc>
                <a:spcPct val="200000"/>
              </a:lnSpc>
              <a:spcBef>
                <a:spcPts val="100"/>
              </a:spcBef>
              <a:buAutoNum type="arabicPeriod"/>
              <a:tabLst>
                <a:tab pos="527685" algn="l"/>
              </a:tabLst>
            </a:pPr>
            <a:r>
              <a:rPr lang="en-US" sz="2400" b="1" dirty="0" err="1">
                <a:latin typeface="Arial (Body)"/>
                <a:cs typeface="Arial" panose="020B0604020202020204" pitchFamily="34" charset="0"/>
              </a:rPr>
              <a:t>Tổng</a:t>
            </a:r>
            <a:r>
              <a:rPr lang="en-US" sz="2400" b="1" dirty="0">
                <a:latin typeface="Arial (Body)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 (Body)"/>
                <a:cs typeface="Arial" panose="020B0604020202020204" pitchFamily="34" charset="0"/>
              </a:rPr>
              <a:t>quan</a:t>
            </a:r>
            <a:r>
              <a:rPr lang="en-US" sz="2400" b="1" dirty="0">
                <a:latin typeface="Arial (Body)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 (Body)"/>
                <a:cs typeface="Arial" panose="020B0604020202020204" pitchFamily="34" charset="0"/>
              </a:rPr>
              <a:t>bài</a:t>
            </a:r>
            <a:r>
              <a:rPr lang="en-US" sz="2400" b="1" dirty="0">
                <a:latin typeface="Arial (Body)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 (Body)"/>
                <a:cs typeface="Arial" panose="020B0604020202020204" pitchFamily="34" charset="0"/>
              </a:rPr>
              <a:t>toán</a:t>
            </a:r>
            <a:endParaRPr lang="en-US" sz="2400" b="1" dirty="0">
              <a:latin typeface="Arial (Body)"/>
              <a:cs typeface="Times New Roman"/>
            </a:endParaRPr>
          </a:p>
          <a:p>
            <a:pPr marL="527685" indent="-514984">
              <a:lnSpc>
                <a:spcPct val="200000"/>
              </a:lnSpc>
              <a:spcBef>
                <a:spcPts val="100"/>
              </a:spcBef>
              <a:buAutoNum type="arabicPeriod"/>
              <a:tabLst>
                <a:tab pos="527685" algn="l"/>
              </a:tabLst>
            </a:pPr>
            <a:r>
              <a:rPr lang="en-US" sz="2400" b="1" dirty="0" err="1">
                <a:latin typeface="Arial (Body)"/>
                <a:cs typeface="Times New Roman"/>
              </a:rPr>
              <a:t>Mô</a:t>
            </a:r>
            <a:r>
              <a:rPr lang="en-US" sz="2400" b="1" dirty="0">
                <a:latin typeface="Arial (Body)"/>
                <a:cs typeface="Times New Roman"/>
              </a:rPr>
              <a:t> </a:t>
            </a:r>
            <a:r>
              <a:rPr lang="en-US" sz="2400" b="1" dirty="0" err="1">
                <a:latin typeface="Arial (Body)"/>
                <a:cs typeface="Times New Roman"/>
              </a:rPr>
              <a:t>hình</a:t>
            </a:r>
            <a:r>
              <a:rPr lang="en-US" sz="2400" b="1" dirty="0">
                <a:latin typeface="Arial (Body)"/>
                <a:cs typeface="Times New Roman"/>
              </a:rPr>
              <a:t> </a:t>
            </a:r>
            <a:r>
              <a:rPr lang="en-US" sz="2400" b="1" dirty="0" err="1">
                <a:latin typeface="Arial (Body)"/>
                <a:cs typeface="Times New Roman"/>
              </a:rPr>
              <a:t>học</a:t>
            </a:r>
            <a:r>
              <a:rPr lang="en-US" sz="2400" b="1" dirty="0">
                <a:latin typeface="Arial (Body)"/>
                <a:cs typeface="Times New Roman"/>
              </a:rPr>
              <a:t> </a:t>
            </a:r>
            <a:r>
              <a:rPr lang="en-US" sz="2400" b="1" dirty="0" err="1">
                <a:latin typeface="Arial (Body)"/>
                <a:cs typeface="Times New Roman"/>
              </a:rPr>
              <a:t>máy</a:t>
            </a:r>
            <a:endParaRPr lang="en-US" sz="2400" b="1" dirty="0">
              <a:latin typeface="Arial (Body)"/>
              <a:cs typeface="Times New Roman"/>
            </a:endParaRPr>
          </a:p>
          <a:p>
            <a:pPr marL="527685" indent="-514984">
              <a:lnSpc>
                <a:spcPct val="200000"/>
              </a:lnSpc>
              <a:spcBef>
                <a:spcPts val="100"/>
              </a:spcBef>
              <a:buAutoNum type="arabicPeriod"/>
              <a:tabLst>
                <a:tab pos="527685" algn="l"/>
              </a:tabLst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Cài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đặt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endParaRPr lang="en-US" sz="2400" b="1" dirty="0">
              <a:latin typeface="Arial (Body)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9144000" cy="61569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940" y="107060"/>
            <a:ext cx="13442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20" dirty="0"/>
              <a:t>Content</a:t>
            </a:r>
            <a:endParaRPr spc="-2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1D8477-5FF8-9B02-A380-4A88AB555BF8}"/>
              </a:ext>
            </a:extLst>
          </p:cNvPr>
          <p:cNvSpPr txBox="1"/>
          <p:nvPr/>
        </p:nvSpPr>
        <p:spPr>
          <a:xfrm>
            <a:off x="8153400" y="6477000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8640" y="66972"/>
            <a:ext cx="3862070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Click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edit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title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style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523" y="0"/>
            <a:ext cx="9145524" cy="51206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4720" y="23876"/>
            <a:ext cx="3580080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pc="-45" dirty="0" err="1"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pc="-45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pc="-45" dirty="0" err="1"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pc="-45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4039" y="762000"/>
            <a:ext cx="8534400" cy="558165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000" b="1" dirty="0"/>
              <a:t>Tìm </a:t>
            </a:r>
            <a:r>
              <a:rPr lang="en-US" sz="2000" b="1" dirty="0" err="1"/>
              <a:t>hiểu</a:t>
            </a:r>
            <a:r>
              <a:rPr lang="en-US" sz="2000" b="1" dirty="0"/>
              <a:t> </a:t>
            </a:r>
            <a:r>
              <a:rPr lang="en-US" sz="2000" b="1" dirty="0" err="1"/>
              <a:t>bài</a:t>
            </a:r>
            <a:r>
              <a:rPr lang="en-US" sz="2000" b="1" dirty="0"/>
              <a:t> </a:t>
            </a:r>
            <a:r>
              <a:rPr lang="en-US" sz="2000" b="1" dirty="0" err="1"/>
              <a:t>toán</a:t>
            </a:r>
            <a:endParaRPr lang="en-US" sz="2000" b="1" dirty="0"/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2000" b="1" dirty="0"/>
          </a:p>
          <a:p>
            <a:pPr marL="298450" indent="-285750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Trong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biết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cảm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xúc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mua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1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vô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trọng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biết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hang long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phẩm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hay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98450" indent="-285750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Đối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thì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biết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phẩm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mình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tốt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hay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hay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đánh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phẩm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này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chạy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hay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8450" indent="-285750">
              <a:lnSpc>
                <a:spcPct val="15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cảm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xúc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nhằm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đích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biết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cảm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xúc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hang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thích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phẩm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đó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hay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dirty="0">
              <a:latin typeface="+mn-lt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dirty="0">
              <a:latin typeface="+mn-lt"/>
            </a:endParaRPr>
          </a:p>
          <a:p>
            <a:endParaRPr lang="vi-VN" sz="2000" dirty="0"/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9530C6-9E2A-F603-0988-22FAE09FA68B}"/>
              </a:ext>
            </a:extLst>
          </p:cNvPr>
          <p:cNvSpPr txBox="1"/>
          <p:nvPr/>
        </p:nvSpPr>
        <p:spPr>
          <a:xfrm>
            <a:off x="8153400" y="6477000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8640" y="66972"/>
            <a:ext cx="3862070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Click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edit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title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style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000" y="1447800"/>
            <a:ext cx="6324600" cy="38992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8285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Ví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dụ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1 (</a:t>
            </a:r>
            <a:r>
              <a:rPr lang="en-US" sz="2400" b="1" dirty="0"/>
              <a:t>positive)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12700" marR="248285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/>
              <a:t>amazing experience, highly recommend!</a:t>
            </a:r>
          </a:p>
          <a:p>
            <a:pPr marL="12700" marR="248285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248285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248285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248285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Ví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dụ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2 (</a:t>
            </a:r>
            <a:r>
              <a:rPr lang="en-US" sz="2400" b="1" dirty="0"/>
              <a:t>positive)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12700" marR="248285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product stopped working after few days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524" y="0"/>
            <a:ext cx="9145524" cy="51206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4720" y="23876"/>
            <a:ext cx="3199080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1</a:t>
            </a:r>
            <a:r>
              <a:rPr dirty="0"/>
              <a:t>.</a:t>
            </a:r>
            <a:r>
              <a:rPr lang="en-US" spc="-45" dirty="0"/>
              <a:t> </a:t>
            </a:r>
            <a:r>
              <a:rPr lang="en-US" spc="-45" dirty="0" err="1"/>
              <a:t>Tổng</a:t>
            </a:r>
            <a:r>
              <a:rPr lang="en-US" spc="-45" dirty="0"/>
              <a:t> </a:t>
            </a:r>
            <a:r>
              <a:rPr lang="en-US" spc="-45" dirty="0" err="1"/>
              <a:t>quan</a:t>
            </a:r>
            <a:r>
              <a:rPr lang="en-US" spc="-45" dirty="0"/>
              <a:t> </a:t>
            </a:r>
            <a:r>
              <a:rPr lang="en-US" spc="-45" dirty="0" err="1"/>
              <a:t>bài</a:t>
            </a:r>
            <a:r>
              <a:rPr lang="en-US" spc="-45" dirty="0"/>
              <a:t> </a:t>
            </a:r>
            <a:r>
              <a:rPr lang="en-US" spc="-45" dirty="0" err="1"/>
              <a:t>toán</a:t>
            </a:r>
            <a:endParaRPr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23CB73-2DC8-4B7F-AA06-23112DC51D59}"/>
              </a:ext>
            </a:extLst>
          </p:cNvPr>
          <p:cNvSpPr txBox="1"/>
          <p:nvPr/>
        </p:nvSpPr>
        <p:spPr>
          <a:xfrm>
            <a:off x="8153400" y="6477000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14A9447-053D-48E4-23B6-CA188EB2EC6E}"/>
              </a:ext>
            </a:extLst>
          </p:cNvPr>
          <p:cNvSpPr txBox="1"/>
          <p:nvPr/>
        </p:nvSpPr>
        <p:spPr>
          <a:xfrm>
            <a:off x="548640" y="66972"/>
            <a:ext cx="3862070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Click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edit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title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style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A03B8A0C-B609-3EDA-AA2C-DD08A6DDB302}"/>
              </a:ext>
            </a:extLst>
          </p:cNvPr>
          <p:cNvSpPr txBox="1"/>
          <p:nvPr/>
        </p:nvSpPr>
        <p:spPr>
          <a:xfrm>
            <a:off x="534720" y="1157994"/>
            <a:ext cx="7590790" cy="23365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/>
            <a:r>
              <a:rPr lang="en-US" sz="2700" b="1" dirty="0">
                <a:latin typeface="Arial (Body)"/>
                <a:cs typeface="Times New Roman" panose="02020603050405020304" pitchFamily="18" charset="0"/>
              </a:rPr>
              <a:t>Các </a:t>
            </a:r>
            <a:r>
              <a:rPr lang="en-US" sz="2700" b="1" dirty="0" err="1">
                <a:latin typeface="Arial (Body)"/>
                <a:cs typeface="Times New Roman" panose="02020603050405020304" pitchFamily="18" charset="0"/>
              </a:rPr>
              <a:t>mô</a:t>
            </a:r>
            <a:r>
              <a:rPr lang="en-US" sz="2700" b="1" dirty="0">
                <a:latin typeface="Arial (Body)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Arial (Body)"/>
                <a:cs typeface="Times New Roman" panose="02020603050405020304" pitchFamily="18" charset="0"/>
              </a:rPr>
              <a:t>hình</a:t>
            </a:r>
            <a:r>
              <a:rPr lang="en-US" sz="2700" b="1" dirty="0">
                <a:latin typeface="Arial (Body)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Arial (Body)"/>
                <a:cs typeface="Times New Roman" panose="02020603050405020304" pitchFamily="18" charset="0"/>
              </a:rPr>
              <a:t>sử</a:t>
            </a:r>
            <a:r>
              <a:rPr lang="en-US" sz="2700" b="1" dirty="0">
                <a:latin typeface="Arial (Body)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Arial (Body)"/>
                <a:cs typeface="Times New Roman" panose="02020603050405020304" pitchFamily="18" charset="0"/>
              </a:rPr>
              <a:t>dụng</a:t>
            </a:r>
            <a:r>
              <a:rPr lang="en-US" sz="2700" b="1" dirty="0">
                <a:latin typeface="Arial (Body)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Arial (Body)"/>
                <a:cs typeface="Times New Roman" panose="02020603050405020304" pitchFamily="18" charset="0"/>
              </a:rPr>
              <a:t>trong</a:t>
            </a:r>
            <a:r>
              <a:rPr lang="en-US" sz="2700" b="1" dirty="0">
                <a:latin typeface="Arial (Body)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Arial (Body)"/>
                <a:cs typeface="Times New Roman" panose="02020603050405020304" pitchFamily="18" charset="0"/>
              </a:rPr>
              <a:t>bài</a:t>
            </a:r>
            <a:r>
              <a:rPr lang="en-US" sz="2700" b="1" dirty="0">
                <a:latin typeface="Arial (Body)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Arial (Body)"/>
                <a:cs typeface="Times New Roman" panose="02020603050405020304" pitchFamily="18" charset="0"/>
              </a:rPr>
              <a:t>toán</a:t>
            </a:r>
            <a:r>
              <a:rPr lang="en-US" sz="2700" b="1" dirty="0">
                <a:latin typeface="Arial (Body)"/>
                <a:cs typeface="Times New Roman" panose="02020603050405020304" pitchFamily="18" charset="0"/>
              </a:rPr>
              <a:t>:</a:t>
            </a:r>
          </a:p>
          <a:p>
            <a:pPr algn="l"/>
            <a:endParaRPr lang="en-US" sz="2400" b="1" dirty="0">
              <a:latin typeface="Arial (Body)"/>
              <a:cs typeface="Times New Roman" panose="02020603050405020304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sz="2500" dirty="0"/>
              <a:t>Support Vector Machine</a:t>
            </a:r>
          </a:p>
          <a:p>
            <a:pPr marL="457200" indent="-457200" algn="l">
              <a:buFont typeface="+mj-lt"/>
              <a:buAutoNum type="arabicPeriod"/>
            </a:pPr>
            <a:endParaRPr lang="en-US" sz="2500" dirty="0"/>
          </a:p>
          <a:p>
            <a:pPr marL="457200" indent="-457200" algn="l">
              <a:buFont typeface="+mj-lt"/>
              <a:buAutoNum type="arabicPeriod"/>
            </a:pPr>
            <a:r>
              <a:rPr lang="en-US" sz="2500" dirty="0"/>
              <a:t>Random Forest</a:t>
            </a:r>
            <a:endParaRPr lang="en-US" sz="2500" b="1" dirty="0">
              <a:latin typeface="Arial (Body)"/>
              <a:cs typeface="Times New Roman" panose="02020603050405020304" pitchFamily="18" charset="0"/>
            </a:endParaRPr>
          </a:p>
          <a:p>
            <a:pPr algn="l"/>
            <a:r>
              <a:rPr lang="en-US" sz="2500" dirty="0">
                <a:latin typeface="Arial (Body)"/>
                <a:cs typeface="Times New Roman" panose="02020603050405020304" pitchFamily="18" charset="0"/>
              </a:rPr>
              <a:t>     </a:t>
            </a:r>
            <a:endParaRPr sz="2500" dirty="0">
              <a:latin typeface="Arial (Body)"/>
              <a:cs typeface="Times New Roman" panose="02020603050405020304" pitchFamily="18" charset="0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FAAEF6B3-2080-774A-8AE6-5A04CB0F1D0A}"/>
              </a:ext>
            </a:extLst>
          </p:cNvPr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524" y="0"/>
            <a:ext cx="9145524" cy="512063"/>
          </a:xfrm>
          <a:prstGeom prst="rect">
            <a:avLst/>
          </a:prstGeom>
        </p:spPr>
      </p:pic>
      <p:sp>
        <p:nvSpPr>
          <p:cNvPr id="7" name="object 5">
            <a:extLst>
              <a:ext uri="{FF2B5EF4-FFF2-40B4-BE49-F238E27FC236}">
                <a16:creationId xmlns:a16="http://schemas.microsoft.com/office/drawing/2014/main" id="{506EF569-8943-200F-75F6-9B70F10A5A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720" y="23876"/>
            <a:ext cx="282003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2.</a:t>
            </a:r>
            <a:r>
              <a:rPr lang="en-US" spc="-45" dirty="0"/>
              <a:t> </a:t>
            </a:r>
            <a:r>
              <a:rPr lang="en-US" spc="-45" dirty="0" err="1"/>
              <a:t>Mô</a:t>
            </a:r>
            <a:r>
              <a:rPr lang="en-US" spc="-45" dirty="0"/>
              <a:t> </a:t>
            </a:r>
            <a:r>
              <a:rPr lang="en-US" spc="-45" dirty="0" err="1"/>
              <a:t>hình</a:t>
            </a:r>
            <a:r>
              <a:rPr lang="en-US" spc="-45" dirty="0"/>
              <a:t> </a:t>
            </a:r>
            <a:r>
              <a:rPr lang="en-US" spc="-45" dirty="0" err="1"/>
              <a:t>học</a:t>
            </a:r>
            <a:r>
              <a:rPr lang="en-US" spc="-45" dirty="0"/>
              <a:t> </a:t>
            </a:r>
            <a:r>
              <a:rPr lang="en-US" spc="-45" dirty="0" err="1"/>
              <a:t>máy</a:t>
            </a:r>
            <a:endParaRPr dirty="0">
              <a:latin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AA3DA7-3365-1A72-5615-A46A12C432A6}"/>
              </a:ext>
            </a:extLst>
          </p:cNvPr>
          <p:cNvSpPr txBox="1"/>
          <p:nvPr/>
        </p:nvSpPr>
        <p:spPr>
          <a:xfrm>
            <a:off x="8153400" y="6477000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5/15</a:t>
            </a:r>
          </a:p>
        </p:txBody>
      </p:sp>
    </p:spTree>
    <p:extLst>
      <p:ext uri="{BB962C8B-B14F-4D97-AF65-F5344CB8AC3E}">
        <p14:creationId xmlns:p14="http://schemas.microsoft.com/office/powerpoint/2010/main" val="385158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8640" y="66972"/>
            <a:ext cx="3862070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Click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edit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title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style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523" y="0"/>
            <a:ext cx="9145524" cy="51206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4720" y="25400"/>
            <a:ext cx="28352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2.</a:t>
            </a:r>
            <a:r>
              <a:rPr lang="en-US" spc="-45" dirty="0"/>
              <a:t> </a:t>
            </a:r>
            <a:r>
              <a:rPr lang="en-US" spc="-45" dirty="0" err="1"/>
              <a:t>Mô</a:t>
            </a:r>
            <a:r>
              <a:rPr lang="en-US" spc="-45" dirty="0"/>
              <a:t> </a:t>
            </a:r>
            <a:r>
              <a:rPr lang="en-US" spc="-45" dirty="0" err="1"/>
              <a:t>hình</a:t>
            </a:r>
            <a:r>
              <a:rPr lang="en-US" spc="-45" dirty="0"/>
              <a:t> </a:t>
            </a:r>
            <a:r>
              <a:rPr lang="en-US" spc="-45" dirty="0" err="1"/>
              <a:t>học</a:t>
            </a:r>
            <a:r>
              <a:rPr lang="en-US" spc="-45" dirty="0"/>
              <a:t> </a:t>
            </a:r>
            <a:r>
              <a:rPr lang="en-US" spc="-45" dirty="0" err="1"/>
              <a:t>máy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219709" y="550601"/>
            <a:ext cx="8193438" cy="2044149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algn="ctr"/>
            <a:r>
              <a:rPr lang="en-US" sz="2500" b="1" dirty="0"/>
              <a:t>Support Vector Machine</a:t>
            </a:r>
          </a:p>
          <a:p>
            <a:pPr algn="ctr"/>
            <a:endParaRPr lang="en-US" sz="2500" b="1" dirty="0">
              <a:latin typeface="Arial (Body)"/>
              <a:cs typeface="Times New Roman" panose="02020603050405020304" pitchFamily="18" charset="0"/>
            </a:endParaRPr>
          </a:p>
          <a:p>
            <a:r>
              <a:rPr lang="vi-VN" sz="2400" dirty="0"/>
              <a:t>Định nghĩa: SVM là một thuật toán học có giám sát (supervised learning), chủ yếu được sử dụng cho phân loại (classification)</a:t>
            </a:r>
            <a:endParaRPr lang="en-US" sz="2400" b="1" dirty="0">
              <a:latin typeface="Arial (Body)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F14BCC-5F85-8B34-4D60-569C5B527031}"/>
              </a:ext>
            </a:extLst>
          </p:cNvPr>
          <p:cNvSpPr txBox="1"/>
          <p:nvPr/>
        </p:nvSpPr>
        <p:spPr>
          <a:xfrm>
            <a:off x="8153400" y="6477000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6/15</a:t>
            </a:r>
          </a:p>
        </p:txBody>
      </p:sp>
      <p:pic>
        <p:nvPicPr>
          <p:cNvPr id="1028" name="Picture 4" descr="Support Vector Machine with Scikit-Learn: A Friendly Introduction | Towards  Data Science">
            <a:extLst>
              <a:ext uri="{FF2B5EF4-FFF2-40B4-BE49-F238E27FC236}">
                <a16:creationId xmlns:a16="http://schemas.microsoft.com/office/drawing/2014/main" id="{4C18911F-9D3F-3683-03B6-4521D87D7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1458" y="2920662"/>
            <a:ext cx="5958503" cy="3556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8640" y="66972"/>
            <a:ext cx="3862070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Click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edit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title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style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8034" y="-14234"/>
            <a:ext cx="9144000" cy="51206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5940" y="25400"/>
            <a:ext cx="346519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2.</a:t>
            </a:r>
            <a:r>
              <a:rPr lang="en-US" spc="-45" dirty="0"/>
              <a:t> </a:t>
            </a:r>
            <a:r>
              <a:rPr lang="en-US" spc="-45" dirty="0" err="1"/>
              <a:t>Mô</a:t>
            </a:r>
            <a:r>
              <a:rPr lang="en-US" spc="-45" dirty="0"/>
              <a:t> </a:t>
            </a:r>
            <a:r>
              <a:rPr lang="en-US" spc="-45" dirty="0" err="1"/>
              <a:t>hình</a:t>
            </a:r>
            <a:r>
              <a:rPr lang="en-US" spc="-45" dirty="0"/>
              <a:t> </a:t>
            </a:r>
            <a:r>
              <a:rPr lang="en-US" spc="-45" dirty="0" err="1"/>
              <a:t>học</a:t>
            </a:r>
            <a:r>
              <a:rPr lang="en-US" spc="-45" dirty="0"/>
              <a:t> </a:t>
            </a:r>
            <a:r>
              <a:rPr lang="en-US" spc="-45" dirty="0" err="1"/>
              <a:t>máy</a:t>
            </a:r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696912" y="762000"/>
            <a:ext cx="7750175" cy="970779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endParaRPr lang="en-US" sz="2400" b="1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31A8506D-ACA7-E884-D92F-CB01825873A3}"/>
              </a:ext>
            </a:extLst>
          </p:cNvPr>
          <p:cNvSpPr txBox="1"/>
          <p:nvPr/>
        </p:nvSpPr>
        <p:spPr>
          <a:xfrm>
            <a:off x="152400" y="579035"/>
            <a:ext cx="8915400" cy="2028761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algn="ctr" rtl="0"/>
            <a:r>
              <a:rPr lang="en-US" sz="2500" b="1" dirty="0"/>
              <a:t>Random Forest</a:t>
            </a:r>
            <a:endParaRPr lang="en-US" sz="2500" b="0" dirty="0">
              <a:effectLst/>
            </a:endParaRPr>
          </a:p>
          <a:p>
            <a:pPr algn="just"/>
            <a:br>
              <a:rPr lang="en-US" sz="2400" dirty="0"/>
            </a:br>
            <a:r>
              <a:rPr lang="en-US" sz="2400" b="1" dirty="0">
                <a:latin typeface="Arial (Body)"/>
              </a:rPr>
              <a:t>        </a:t>
            </a:r>
            <a:r>
              <a:rPr lang="vi-VN" sz="2400" dirty="0"/>
              <a:t>Random Forest là một thuật toán học tập hợp (Ensemble Learning), được sử dụng cho cả bài toán phân loại (classification) và hồi quy (regression).</a:t>
            </a:r>
            <a:endParaRPr lang="vi-VN" sz="2400" dirty="0">
              <a:latin typeface="Arial (Body)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9B893D-D26B-24C2-C3D7-EC9291D09728}"/>
              </a:ext>
            </a:extLst>
          </p:cNvPr>
          <p:cNvSpPr txBox="1"/>
          <p:nvPr/>
        </p:nvSpPr>
        <p:spPr>
          <a:xfrm>
            <a:off x="8153400" y="6477000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7/15</a:t>
            </a:r>
          </a:p>
        </p:txBody>
      </p:sp>
      <p:pic>
        <p:nvPicPr>
          <p:cNvPr id="2052" name="Picture 4" descr="Your Random Forest Model is Never the Best Random Forest Model You Can Build">
            <a:extLst>
              <a:ext uri="{FF2B5EF4-FFF2-40B4-BE49-F238E27FC236}">
                <a16:creationId xmlns:a16="http://schemas.microsoft.com/office/drawing/2014/main" id="{F460D0C5-3CEC-8EF0-82AB-E9E3C6ADE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913" y="3603875"/>
            <a:ext cx="7750174" cy="2577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B53CCC99-B9AB-3020-5345-554B78D067FB}"/>
              </a:ext>
            </a:extLst>
          </p:cNvPr>
          <p:cNvSpPr txBox="1"/>
          <p:nvPr/>
        </p:nvSpPr>
        <p:spPr>
          <a:xfrm>
            <a:off x="548640" y="66972"/>
            <a:ext cx="3862070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Click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edit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title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style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AB97F00D-02D3-B2AF-6E84-1BBE876B95A2}"/>
              </a:ext>
            </a:extLst>
          </p:cNvPr>
          <p:cNvSpPr txBox="1"/>
          <p:nvPr/>
        </p:nvSpPr>
        <p:spPr>
          <a:xfrm>
            <a:off x="524210" y="914400"/>
            <a:ext cx="7590790" cy="3032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400" b="1" dirty="0"/>
              <a:t>Các metric </a:t>
            </a:r>
            <a:r>
              <a:rPr lang="en-US" sz="2500" b="1" dirty="0" err="1"/>
              <a:t>đánh</a:t>
            </a:r>
            <a:r>
              <a:rPr lang="en-US" sz="2400" b="1" dirty="0"/>
              <a:t> </a:t>
            </a:r>
            <a:r>
              <a:rPr lang="en-US" sz="2400" b="1" dirty="0" err="1"/>
              <a:t>giá</a:t>
            </a:r>
            <a:endParaRPr lang="en-US" sz="2400" b="1" dirty="0"/>
          </a:p>
          <a:p>
            <a:endParaRPr lang="en-US" sz="2400" b="1" dirty="0"/>
          </a:p>
          <a:p>
            <a:pPr marL="342900" indent="-342900" rtl="0" fontAlgn="base">
              <a:buFont typeface="+mj-lt"/>
              <a:buAutoNum type="arabicPeriod"/>
            </a:pPr>
            <a:r>
              <a:rPr lang="en-US" sz="2400" dirty="0"/>
              <a:t>Accuracy</a:t>
            </a:r>
          </a:p>
          <a:p>
            <a:pPr marL="342900" indent="-342900" rtl="0" fontAlgn="base">
              <a:buFont typeface="+mj-lt"/>
              <a:buAutoNum type="arabicPeriod"/>
            </a:pPr>
            <a:r>
              <a:rPr lang="en-US" sz="2400" dirty="0"/>
              <a:t>Precision</a:t>
            </a:r>
          </a:p>
          <a:p>
            <a:pPr marL="342900" indent="-342900" rtl="0" fontAlgn="base">
              <a:buFont typeface="+mj-lt"/>
              <a:buAutoNum type="arabicPeriod"/>
            </a:pPr>
            <a:r>
              <a:rPr lang="en-US" sz="2400" dirty="0"/>
              <a:t>Recall</a:t>
            </a:r>
          </a:p>
          <a:p>
            <a:pPr marL="342900" indent="-342900" rtl="0" fontAlgn="base">
              <a:buFont typeface="+mj-lt"/>
              <a:buAutoNum type="arabicPeriod"/>
            </a:pPr>
            <a:r>
              <a:rPr lang="en-US" sz="2400" dirty="0"/>
              <a:t>F1-score</a:t>
            </a:r>
          </a:p>
          <a:p>
            <a:pPr marL="457200" indent="-457200">
              <a:buFont typeface="+mj-lt"/>
              <a:buAutoNum type="arabicPeriod"/>
            </a:pPr>
            <a:endParaRPr lang="en-US" sz="2400" b="1" dirty="0"/>
          </a:p>
          <a:p>
            <a:pPr marL="12700" marR="248285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object 4">
            <a:extLst>
              <a:ext uri="{FF2B5EF4-FFF2-40B4-BE49-F238E27FC236}">
                <a16:creationId xmlns:a16="http://schemas.microsoft.com/office/drawing/2014/main" id="{8C76DD79-CFE4-45EB-E07B-3B5273FBF885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524" y="0"/>
            <a:ext cx="9145524" cy="512063"/>
          </a:xfrm>
          <a:prstGeom prst="rect">
            <a:avLst/>
          </a:prstGeom>
        </p:spPr>
      </p:pic>
      <p:sp>
        <p:nvSpPr>
          <p:cNvPr id="15" name="object 5">
            <a:extLst>
              <a:ext uri="{FF2B5EF4-FFF2-40B4-BE49-F238E27FC236}">
                <a16:creationId xmlns:a16="http://schemas.microsoft.com/office/drawing/2014/main" id="{475B2619-6B08-7365-4875-3F9AAC2803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720" y="23876"/>
            <a:ext cx="282003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2.</a:t>
            </a:r>
            <a:r>
              <a:rPr lang="en-US" spc="-45" dirty="0"/>
              <a:t> </a:t>
            </a:r>
            <a:r>
              <a:rPr lang="en-US" spc="-45" dirty="0" err="1"/>
              <a:t>Mô</a:t>
            </a:r>
            <a:r>
              <a:rPr lang="en-US" spc="-45" dirty="0"/>
              <a:t> </a:t>
            </a:r>
            <a:r>
              <a:rPr lang="en-US" spc="-45" dirty="0" err="1"/>
              <a:t>hình</a:t>
            </a:r>
            <a:r>
              <a:rPr lang="en-US" spc="-45" dirty="0"/>
              <a:t> </a:t>
            </a:r>
            <a:r>
              <a:rPr lang="en-US" spc="-45" dirty="0" err="1"/>
              <a:t>học</a:t>
            </a:r>
            <a:r>
              <a:rPr lang="en-US" spc="-45" dirty="0"/>
              <a:t> </a:t>
            </a:r>
            <a:r>
              <a:rPr lang="en-US" spc="-45" dirty="0" err="1"/>
              <a:t>máy</a:t>
            </a:r>
            <a:endParaRPr dirty="0"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B8AFE7-1EFE-C3AA-72BE-D0C6AC91BAF1}"/>
              </a:ext>
            </a:extLst>
          </p:cNvPr>
          <p:cNvSpPr txBox="1"/>
          <p:nvPr/>
        </p:nvSpPr>
        <p:spPr>
          <a:xfrm>
            <a:off x="8153400" y="6477000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8/15</a:t>
            </a:r>
          </a:p>
        </p:txBody>
      </p:sp>
    </p:spTree>
    <p:extLst>
      <p:ext uri="{BB962C8B-B14F-4D97-AF65-F5344CB8AC3E}">
        <p14:creationId xmlns:p14="http://schemas.microsoft.com/office/powerpoint/2010/main" val="4187111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89853B79-1C91-F213-6ABC-198E9793C444}"/>
              </a:ext>
            </a:extLst>
          </p:cNvPr>
          <p:cNvSpPr txBox="1"/>
          <p:nvPr/>
        </p:nvSpPr>
        <p:spPr>
          <a:xfrm>
            <a:off x="548639" y="66972"/>
            <a:ext cx="3870961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Click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edit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title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style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E9293BFB-B902-9BB7-3FBD-750807307C8D}"/>
              </a:ext>
            </a:extLst>
          </p:cNvPr>
          <p:cNvSpPr txBox="1"/>
          <p:nvPr/>
        </p:nvSpPr>
        <p:spPr>
          <a:xfrm>
            <a:off x="548640" y="1447800"/>
            <a:ext cx="7790638" cy="419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8285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object 4">
            <a:extLst>
              <a:ext uri="{FF2B5EF4-FFF2-40B4-BE49-F238E27FC236}">
                <a16:creationId xmlns:a16="http://schemas.microsoft.com/office/drawing/2014/main" id="{28F3399E-B5C3-F966-727D-75863C69FF6B}"/>
              </a:ext>
            </a:extLst>
          </p:cNvPr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524" y="0"/>
            <a:ext cx="9386304" cy="512063"/>
          </a:xfrm>
          <a:prstGeom prst="rect">
            <a:avLst/>
          </a:prstGeom>
        </p:spPr>
      </p:pic>
      <p:sp>
        <p:nvSpPr>
          <p:cNvPr id="16" name="object 5">
            <a:extLst>
              <a:ext uri="{FF2B5EF4-FFF2-40B4-BE49-F238E27FC236}">
                <a16:creationId xmlns:a16="http://schemas.microsoft.com/office/drawing/2014/main" id="{17E6A800-102A-5DBC-328E-D3A89B73BE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720" y="23876"/>
            <a:ext cx="2826527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3.</a:t>
            </a:r>
            <a:r>
              <a:rPr lang="en-US" spc="-45" dirty="0"/>
              <a:t> Cài </a:t>
            </a:r>
            <a:r>
              <a:rPr lang="en-US" spc="-45" dirty="0" err="1"/>
              <a:t>đặt</a:t>
            </a:r>
            <a:r>
              <a:rPr lang="en-US" spc="-45" dirty="0"/>
              <a:t> </a:t>
            </a:r>
            <a:r>
              <a:rPr lang="en-US" spc="-45" dirty="0" err="1"/>
              <a:t>mô</a:t>
            </a:r>
            <a:r>
              <a:rPr lang="en-US" spc="-45" dirty="0"/>
              <a:t> </a:t>
            </a:r>
            <a:r>
              <a:rPr lang="en-US" spc="-45" dirty="0" err="1"/>
              <a:t>hình</a:t>
            </a:r>
            <a:endParaRPr dirty="0"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84DD58-702E-213B-88E6-8C4E7F55AC4D}"/>
              </a:ext>
            </a:extLst>
          </p:cNvPr>
          <p:cNvSpPr txBox="1"/>
          <p:nvPr/>
        </p:nvSpPr>
        <p:spPr>
          <a:xfrm>
            <a:off x="8153400" y="6477000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9/15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3A2BDA-0D6C-B816-8B34-86A43F238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714071"/>
            <a:ext cx="8534400" cy="39606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A87C96-4D8A-48C2-D4F8-1C022BAC357D}"/>
              </a:ext>
            </a:extLst>
          </p:cNvPr>
          <p:cNvSpPr txBox="1"/>
          <p:nvPr/>
        </p:nvSpPr>
        <p:spPr>
          <a:xfrm>
            <a:off x="2438400" y="5773579"/>
            <a:ext cx="7239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https://www.kaggle.com/datasets/kundanbedmutha/customer-sentiment-dataset</a:t>
            </a:r>
          </a:p>
        </p:txBody>
      </p:sp>
    </p:spTree>
    <p:extLst>
      <p:ext uri="{BB962C8B-B14F-4D97-AF65-F5344CB8AC3E}">
        <p14:creationId xmlns:p14="http://schemas.microsoft.com/office/powerpoint/2010/main" val="1649785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01DBAB5F-9951-B33B-2BAA-B8586A1B9B19}"/>
              </a:ext>
            </a:extLst>
          </p:cNvPr>
          <p:cNvSpPr txBox="1"/>
          <p:nvPr/>
        </p:nvSpPr>
        <p:spPr>
          <a:xfrm>
            <a:off x="548640" y="66972"/>
            <a:ext cx="3862070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Click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edit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title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style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1ABB7C42-442F-6AB3-276B-0773F64031D1}"/>
              </a:ext>
            </a:extLst>
          </p:cNvPr>
          <p:cNvSpPr txBox="1"/>
          <p:nvPr/>
        </p:nvSpPr>
        <p:spPr>
          <a:xfrm>
            <a:off x="534720" y="1071424"/>
            <a:ext cx="7590790" cy="5004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8285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B121CCC0-C7C2-4CA3-8311-9103C068C6F7}"/>
              </a:ext>
            </a:extLst>
          </p:cNvPr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524" y="0"/>
            <a:ext cx="9145524" cy="512063"/>
          </a:xfrm>
          <a:prstGeom prst="rect">
            <a:avLst/>
          </a:prstGeom>
        </p:spPr>
      </p:pic>
      <p:sp>
        <p:nvSpPr>
          <p:cNvPr id="7" name="object 5">
            <a:extLst>
              <a:ext uri="{FF2B5EF4-FFF2-40B4-BE49-F238E27FC236}">
                <a16:creationId xmlns:a16="http://schemas.microsoft.com/office/drawing/2014/main" id="{71FF20BE-4E6D-0DBC-9EED-67A5DE557B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720" y="23876"/>
            <a:ext cx="282003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3.</a:t>
            </a:r>
            <a:r>
              <a:rPr lang="en-US" spc="-45" dirty="0"/>
              <a:t> Cài </a:t>
            </a:r>
            <a:r>
              <a:rPr lang="en-US" spc="-45" dirty="0" err="1"/>
              <a:t>đặt</a:t>
            </a:r>
            <a:r>
              <a:rPr lang="en-US" spc="-45" dirty="0"/>
              <a:t> </a:t>
            </a:r>
            <a:r>
              <a:rPr lang="en-US" spc="-45" dirty="0" err="1"/>
              <a:t>mô</a:t>
            </a:r>
            <a:r>
              <a:rPr lang="en-US" spc="-45" dirty="0"/>
              <a:t> </a:t>
            </a:r>
            <a:r>
              <a:rPr lang="en-US" spc="-45" dirty="0" err="1"/>
              <a:t>hình</a:t>
            </a:r>
            <a:endParaRPr dirty="0">
              <a:latin typeface="Times New Roman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67897B-F351-70D2-57D9-0AC0973E5BA8}"/>
              </a:ext>
            </a:extLst>
          </p:cNvPr>
          <p:cNvSpPr txBox="1"/>
          <p:nvPr/>
        </p:nvSpPr>
        <p:spPr>
          <a:xfrm>
            <a:off x="534720" y="1046216"/>
            <a:ext cx="8228280" cy="4816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84163" algn="l"/>
            <a:r>
              <a:rPr lang="en-US" sz="2500" b="1" dirty="0" err="1"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b="1" dirty="0" err="1">
                <a:latin typeface="Arial" panose="020B0604020202020204" pitchFamily="34" charset="0"/>
                <a:cs typeface="Arial" panose="020B0604020202020204" pitchFamily="34" charset="0"/>
              </a:rPr>
              <a:t>tả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b="1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b="1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endParaRPr lang="en-US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err="1"/>
              <a:t>customer_id</a:t>
            </a:r>
            <a:r>
              <a:rPr lang="en-US" sz="2400" dirty="0"/>
              <a:t>: </a:t>
            </a:r>
            <a:r>
              <a:rPr lang="en-US" sz="2400" dirty="0" err="1"/>
              <a:t>Mã</a:t>
            </a:r>
            <a:r>
              <a:rPr lang="en-US" sz="2400" dirty="0"/>
              <a:t> </a:t>
            </a:r>
            <a:r>
              <a:rPr lang="en-US" sz="2400" dirty="0" err="1"/>
              <a:t>khách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endParaRPr lang="en-US" sz="2400" dirty="0"/>
          </a:p>
          <a:p>
            <a:r>
              <a:rPr lang="en-US" sz="2400" dirty="0"/>
              <a:t>gender: </a:t>
            </a:r>
            <a:r>
              <a:rPr lang="en-US" sz="2400" dirty="0" err="1"/>
              <a:t>giới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khách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endParaRPr lang="en-US" sz="2400" dirty="0"/>
          </a:p>
          <a:p>
            <a:r>
              <a:rPr lang="en-US" sz="2400" dirty="0" err="1"/>
              <a:t>age_group</a:t>
            </a:r>
            <a:r>
              <a:rPr lang="en-US" sz="2400" dirty="0"/>
              <a:t>: </a:t>
            </a:r>
            <a:r>
              <a:rPr lang="en-US" sz="2400" dirty="0" err="1"/>
              <a:t>nhóm</a:t>
            </a:r>
            <a:r>
              <a:rPr lang="en-US" sz="2400" dirty="0"/>
              <a:t> </a:t>
            </a:r>
            <a:r>
              <a:rPr lang="en-US" sz="2400" dirty="0" err="1"/>
              <a:t>tuổi</a:t>
            </a:r>
            <a:r>
              <a:rPr lang="en-US" sz="2400" dirty="0"/>
              <a:t> </a:t>
            </a:r>
            <a:r>
              <a:rPr lang="en-US" sz="2400" dirty="0" err="1"/>
              <a:t>khách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endParaRPr lang="en-US" sz="2400" dirty="0"/>
          </a:p>
          <a:p>
            <a:r>
              <a:rPr lang="en-US" sz="2400" dirty="0"/>
              <a:t>region: </a:t>
            </a:r>
            <a:r>
              <a:rPr lang="en-US" sz="2400" dirty="0" err="1"/>
              <a:t>khu</a:t>
            </a:r>
            <a:r>
              <a:rPr lang="en-US" sz="2400" dirty="0"/>
              <a:t> </a:t>
            </a:r>
            <a:r>
              <a:rPr lang="en-US" sz="2400" dirty="0" err="1"/>
              <a:t>vực</a:t>
            </a:r>
            <a:r>
              <a:rPr lang="en-US" sz="2400" dirty="0"/>
              <a:t> </a:t>
            </a:r>
            <a:r>
              <a:rPr lang="en-US" sz="2400" dirty="0" err="1"/>
              <a:t>sống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khách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endParaRPr lang="en-US" sz="2400" dirty="0"/>
          </a:p>
          <a:p>
            <a:r>
              <a:rPr lang="en-US" sz="2400" dirty="0" err="1"/>
              <a:t>product_category</a:t>
            </a:r>
            <a:r>
              <a:rPr lang="en-US" sz="2400" dirty="0"/>
              <a:t>: </a:t>
            </a:r>
            <a:r>
              <a:rPr lang="en-US" sz="2400" dirty="0" err="1"/>
              <a:t>loại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r>
              <a:rPr lang="en-US" sz="2400" dirty="0"/>
              <a:t> </a:t>
            </a:r>
            <a:r>
              <a:rPr lang="en-US" sz="2400" dirty="0" err="1"/>
              <a:t>mua</a:t>
            </a:r>
            <a:endParaRPr lang="en-US" sz="2400" dirty="0"/>
          </a:p>
          <a:p>
            <a:r>
              <a:rPr lang="en-US" sz="2400" dirty="0" err="1"/>
              <a:t>purchase_channel</a:t>
            </a:r>
            <a:r>
              <a:rPr lang="en-US" sz="2400" dirty="0"/>
              <a:t>: </a:t>
            </a:r>
            <a:r>
              <a:rPr lang="en-US" sz="2400" dirty="0" err="1"/>
              <a:t>cách</a:t>
            </a:r>
            <a:r>
              <a:rPr lang="en-US" sz="2400" dirty="0"/>
              <a:t> </a:t>
            </a:r>
            <a:r>
              <a:rPr lang="en-US" sz="2400" dirty="0" err="1"/>
              <a:t>thức</a:t>
            </a:r>
            <a:r>
              <a:rPr lang="en-US" sz="2400" dirty="0"/>
              <a:t> </a:t>
            </a:r>
            <a:r>
              <a:rPr lang="en-US" sz="2400" dirty="0" err="1"/>
              <a:t>mua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r>
              <a:rPr lang="en-US" sz="2400" dirty="0"/>
              <a:t>(</a:t>
            </a:r>
            <a:r>
              <a:rPr lang="en-US" sz="2400" dirty="0" err="1"/>
              <a:t>chỉ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1 value 'online')</a:t>
            </a:r>
          </a:p>
          <a:p>
            <a:r>
              <a:rPr lang="en-US" sz="2400" dirty="0"/>
              <a:t>platform: </a:t>
            </a:r>
            <a:r>
              <a:rPr lang="en-US" sz="2400" dirty="0" err="1"/>
              <a:t>Nền</a:t>
            </a:r>
            <a:r>
              <a:rPr lang="en-US" sz="2400" dirty="0"/>
              <a:t> </a:t>
            </a:r>
            <a:r>
              <a:rPr lang="en-US" sz="2400" dirty="0" err="1"/>
              <a:t>tảng</a:t>
            </a:r>
            <a:r>
              <a:rPr lang="en-US" sz="2400" dirty="0"/>
              <a:t> </a:t>
            </a:r>
            <a:r>
              <a:rPr lang="en-US" sz="2400" dirty="0" err="1"/>
              <a:t>mua</a:t>
            </a:r>
            <a:r>
              <a:rPr lang="en-US" sz="2400" dirty="0"/>
              <a:t> </a:t>
            </a:r>
            <a:r>
              <a:rPr lang="en-US" sz="2400" dirty="0" err="1"/>
              <a:t>sắm</a:t>
            </a:r>
            <a:endParaRPr lang="en-US" sz="2400" dirty="0"/>
          </a:p>
          <a:p>
            <a:r>
              <a:rPr lang="en-US" sz="2400" dirty="0" err="1"/>
              <a:t>customer_rating</a:t>
            </a:r>
            <a:r>
              <a:rPr lang="en-US" sz="2400" dirty="0"/>
              <a:t>: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sao</a:t>
            </a:r>
            <a:r>
              <a:rPr lang="en-US" sz="2400" dirty="0"/>
              <a:t> </a:t>
            </a:r>
            <a:r>
              <a:rPr lang="en-US" sz="2400" dirty="0" err="1"/>
              <a:t>đánh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khách</a:t>
            </a:r>
            <a:r>
              <a:rPr lang="en-US" sz="2400" dirty="0"/>
              <a:t> hang</a:t>
            </a:r>
          </a:p>
          <a:p>
            <a:r>
              <a:rPr lang="en-US" sz="2400" dirty="0" err="1"/>
              <a:t>review_text</a:t>
            </a:r>
            <a:r>
              <a:rPr lang="en-US" sz="2400" dirty="0"/>
              <a:t>: </a:t>
            </a:r>
            <a:r>
              <a:rPr lang="en-US" sz="2400" dirty="0" err="1"/>
              <a:t>bình</a:t>
            </a:r>
            <a:r>
              <a:rPr lang="en-US" sz="2400" dirty="0"/>
              <a:t> </a:t>
            </a:r>
            <a:r>
              <a:rPr lang="en-US" sz="2400" dirty="0" err="1"/>
              <a:t>luận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khách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endParaRPr lang="en-US" sz="2400" dirty="0"/>
          </a:p>
          <a:p>
            <a:r>
              <a:rPr lang="en-US" sz="2400" dirty="0"/>
              <a:t>sentiment: </a:t>
            </a:r>
            <a:r>
              <a:rPr lang="en-US" sz="2400" dirty="0" err="1"/>
              <a:t>Cảm</a:t>
            </a:r>
            <a:r>
              <a:rPr lang="en-US" sz="2400" dirty="0"/>
              <a:t> </a:t>
            </a:r>
            <a:r>
              <a:rPr lang="en-US" sz="2400" dirty="0" err="1"/>
              <a:t>xúc</a:t>
            </a:r>
            <a:r>
              <a:rPr lang="en-US" sz="2400" dirty="0"/>
              <a:t> </a:t>
            </a:r>
            <a:r>
              <a:rPr lang="en-US" sz="2400" dirty="0" err="1"/>
              <a:t>khách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endParaRPr lang="en-US" sz="2400" dirty="0"/>
          </a:p>
          <a:p>
            <a:pPr indent="284163" algn="l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AD07C7-CD01-C881-64E8-2481713AB70C}"/>
              </a:ext>
            </a:extLst>
          </p:cNvPr>
          <p:cNvSpPr txBox="1"/>
          <p:nvPr/>
        </p:nvSpPr>
        <p:spPr>
          <a:xfrm>
            <a:off x="8153400" y="6477000"/>
            <a:ext cx="5020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10/15</a:t>
            </a:r>
          </a:p>
        </p:txBody>
      </p:sp>
    </p:spTree>
    <p:extLst>
      <p:ext uri="{BB962C8B-B14F-4D97-AF65-F5344CB8AC3E}">
        <p14:creationId xmlns:p14="http://schemas.microsoft.com/office/powerpoint/2010/main" val="3917656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8E8151D9-995D-BB89-ADEC-D77A4A72F9DC}"/>
              </a:ext>
            </a:extLst>
          </p:cNvPr>
          <p:cNvSpPr txBox="1"/>
          <p:nvPr/>
        </p:nvSpPr>
        <p:spPr>
          <a:xfrm>
            <a:off x="548640" y="66972"/>
            <a:ext cx="3862070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Click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edit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title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style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451D8E5-9209-8B5F-51ED-E66411682D00}"/>
              </a:ext>
            </a:extLst>
          </p:cNvPr>
          <p:cNvSpPr txBox="1"/>
          <p:nvPr/>
        </p:nvSpPr>
        <p:spPr>
          <a:xfrm>
            <a:off x="671625" y="4789204"/>
            <a:ext cx="7590790" cy="13017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8285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endParaRPr lang="en-US" sz="1900" b="1" spc="-1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248285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endParaRPr lang="en-US" sz="1900" b="1" spc="-1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248285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endParaRPr lang="en-US" sz="1900" b="1" spc="-1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C30E7420-896E-7234-CDE2-635F5EC11211}"/>
              </a:ext>
            </a:extLst>
          </p:cNvPr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524" y="0"/>
            <a:ext cx="9145524" cy="512063"/>
          </a:xfrm>
          <a:prstGeom prst="rect">
            <a:avLst/>
          </a:prstGeom>
        </p:spPr>
      </p:pic>
      <p:sp>
        <p:nvSpPr>
          <p:cNvPr id="7" name="object 5">
            <a:extLst>
              <a:ext uri="{FF2B5EF4-FFF2-40B4-BE49-F238E27FC236}">
                <a16:creationId xmlns:a16="http://schemas.microsoft.com/office/drawing/2014/main" id="{04E6682E-A122-290B-2819-096D6FF921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720" y="23876"/>
            <a:ext cx="282003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3.</a:t>
            </a:r>
            <a:r>
              <a:rPr lang="en-US" spc="-45" dirty="0"/>
              <a:t> Cài </a:t>
            </a:r>
            <a:r>
              <a:rPr lang="en-US" spc="-45" dirty="0" err="1"/>
              <a:t>đặt</a:t>
            </a:r>
            <a:r>
              <a:rPr lang="en-US" spc="-45" dirty="0"/>
              <a:t> </a:t>
            </a:r>
            <a:r>
              <a:rPr lang="en-US" spc="-45" dirty="0" err="1"/>
              <a:t>mô</a:t>
            </a:r>
            <a:r>
              <a:rPr lang="en-US" spc="-45" dirty="0"/>
              <a:t> </a:t>
            </a:r>
            <a:r>
              <a:rPr lang="en-US" spc="-45" dirty="0" err="1"/>
              <a:t>hình</a:t>
            </a:r>
            <a:endParaRPr dirty="0">
              <a:latin typeface="Times New Roman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AE6556-BB4D-149F-E213-A4F2B79F78A0}"/>
              </a:ext>
            </a:extLst>
          </p:cNvPr>
          <p:cNvSpPr txBox="1"/>
          <p:nvPr/>
        </p:nvSpPr>
        <p:spPr>
          <a:xfrm>
            <a:off x="1143000" y="1265170"/>
            <a:ext cx="5903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Nhận</a:t>
            </a:r>
            <a:r>
              <a:rPr lang="en-US" sz="1800" dirty="0"/>
              <a:t> </a:t>
            </a:r>
            <a:r>
              <a:rPr lang="en-US" sz="1800" dirty="0" err="1"/>
              <a:t>xét</a:t>
            </a:r>
            <a:r>
              <a:rPr lang="en-US" sz="1800" dirty="0"/>
              <a:t>: </a:t>
            </a:r>
            <a:r>
              <a:rPr lang="en-US" sz="1800" dirty="0" err="1"/>
              <a:t>Tập</a:t>
            </a:r>
            <a:r>
              <a:rPr lang="en-US" sz="1800" dirty="0"/>
              <a:t> </a:t>
            </a:r>
            <a:r>
              <a:rPr lang="en-US" sz="1800" dirty="0" err="1"/>
              <a:t>dữ</a:t>
            </a:r>
            <a:r>
              <a:rPr lang="en-US" sz="1800" dirty="0"/>
              <a:t> </a:t>
            </a:r>
            <a:r>
              <a:rPr lang="en-US" sz="1800" dirty="0" err="1"/>
              <a:t>liệu</a:t>
            </a:r>
            <a:r>
              <a:rPr lang="en-US" sz="1800" dirty="0"/>
              <a:t> </a:t>
            </a:r>
            <a:r>
              <a:rPr lang="en-US" dirty="0" err="1"/>
              <a:t>khá</a:t>
            </a:r>
            <a:r>
              <a:rPr lang="en-US" dirty="0"/>
              <a:t> </a:t>
            </a:r>
            <a:r>
              <a:rPr lang="en-US" dirty="0" err="1"/>
              <a:t>cân</a:t>
            </a:r>
            <a:r>
              <a:rPr lang="en-US" dirty="0"/>
              <a:t> </a:t>
            </a:r>
            <a:r>
              <a:rPr lang="en-US" dirty="0" err="1"/>
              <a:t>bằng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838357E-470F-D238-BDF1-D4F75305FC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752" y="1771817"/>
            <a:ext cx="6706536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614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6236C53-CAAF-C64B-E86B-8C560FFEECE8}"/>
              </a:ext>
            </a:extLst>
          </p:cNvPr>
          <p:cNvSpPr txBox="1"/>
          <p:nvPr/>
        </p:nvSpPr>
        <p:spPr>
          <a:xfrm>
            <a:off x="548640" y="66972"/>
            <a:ext cx="3862070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Click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edit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title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style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03E9B011-10BF-ACC5-653D-F969E508C0FA}"/>
              </a:ext>
            </a:extLst>
          </p:cNvPr>
          <p:cNvSpPr txBox="1"/>
          <p:nvPr/>
        </p:nvSpPr>
        <p:spPr>
          <a:xfrm>
            <a:off x="381000" y="773148"/>
            <a:ext cx="8837040" cy="939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8285" algn="l" rtl="0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endParaRPr lang="en-US" sz="2200" b="1" spc="-15" dirty="0">
              <a:latin typeface="+mj-lt"/>
              <a:cs typeface="Times New Roman"/>
            </a:endParaRPr>
          </a:p>
          <a:p>
            <a:pPr marL="12700" marR="248285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E15081A7-7BE3-AE7C-85C5-645BA2B00AA3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7620" y="-18563"/>
            <a:ext cx="9145524" cy="512063"/>
          </a:xfrm>
          <a:prstGeom prst="rect">
            <a:avLst/>
          </a:prstGeom>
        </p:spPr>
      </p:pic>
      <p:sp>
        <p:nvSpPr>
          <p:cNvPr id="7" name="object 5">
            <a:extLst>
              <a:ext uri="{FF2B5EF4-FFF2-40B4-BE49-F238E27FC236}">
                <a16:creationId xmlns:a16="http://schemas.microsoft.com/office/drawing/2014/main" id="{4686F625-C152-4BDA-1ED5-4CBD5BE1AB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720" y="23876"/>
            <a:ext cx="282003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3.</a:t>
            </a:r>
            <a:r>
              <a:rPr lang="en-US" spc="-45" dirty="0"/>
              <a:t> Cài </a:t>
            </a:r>
            <a:r>
              <a:rPr lang="en-US" spc="-45" dirty="0" err="1"/>
              <a:t>đặt</a:t>
            </a:r>
            <a:r>
              <a:rPr lang="en-US" spc="-45" dirty="0"/>
              <a:t> </a:t>
            </a:r>
            <a:r>
              <a:rPr lang="en-US" spc="-45" dirty="0" err="1"/>
              <a:t>mô</a:t>
            </a:r>
            <a:r>
              <a:rPr lang="en-US" spc="-45" dirty="0"/>
              <a:t> </a:t>
            </a:r>
            <a:r>
              <a:rPr lang="en-US" spc="-45" dirty="0" err="1"/>
              <a:t>hình</a:t>
            </a:r>
            <a:endParaRPr dirty="0">
              <a:latin typeface="Times New Roman"/>
              <a:cs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4F4B68-989C-2563-7967-1D5CE0A319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282" y="1066800"/>
            <a:ext cx="4086785" cy="25762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9B7A3C-821F-9237-64E4-9CDF20F2FA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0935" y="1056290"/>
            <a:ext cx="4086783" cy="25192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975D408-D192-B856-83C3-94ECD85CEE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522" y="3697287"/>
            <a:ext cx="4253413" cy="26579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111786-9C4B-AC3A-2705-20A3F63523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9234" y="3575510"/>
            <a:ext cx="3886200" cy="296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144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0403A1E1-2B41-E124-E490-AFF83D1804C5}"/>
              </a:ext>
            </a:extLst>
          </p:cNvPr>
          <p:cNvSpPr txBox="1"/>
          <p:nvPr/>
        </p:nvSpPr>
        <p:spPr>
          <a:xfrm>
            <a:off x="548640" y="66972"/>
            <a:ext cx="3862070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Click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edit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title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style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C8314773-5EC8-1737-DF8C-DC9255F156E3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524" y="0"/>
            <a:ext cx="9145524" cy="512063"/>
          </a:xfrm>
          <a:prstGeom prst="rect">
            <a:avLst/>
          </a:prstGeom>
        </p:spPr>
      </p:pic>
      <p:sp>
        <p:nvSpPr>
          <p:cNvPr id="8" name="object 5">
            <a:extLst>
              <a:ext uri="{FF2B5EF4-FFF2-40B4-BE49-F238E27FC236}">
                <a16:creationId xmlns:a16="http://schemas.microsoft.com/office/drawing/2014/main" id="{A109D8DB-7B9B-3EF1-1A70-52F805CC42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720" y="23876"/>
            <a:ext cx="282003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3.</a:t>
            </a:r>
            <a:r>
              <a:rPr lang="en-US" spc="-45" dirty="0"/>
              <a:t> Cài </a:t>
            </a:r>
            <a:r>
              <a:rPr lang="en-US" spc="-45" dirty="0" err="1"/>
              <a:t>đặt</a:t>
            </a:r>
            <a:r>
              <a:rPr lang="en-US" spc="-45" dirty="0"/>
              <a:t> </a:t>
            </a:r>
            <a:r>
              <a:rPr lang="en-US" spc="-45" dirty="0" err="1"/>
              <a:t>mô</a:t>
            </a:r>
            <a:r>
              <a:rPr lang="en-US" spc="-45" dirty="0"/>
              <a:t> </a:t>
            </a:r>
            <a:r>
              <a:rPr lang="en-US" spc="-45" dirty="0" err="1"/>
              <a:t>hình</a:t>
            </a:r>
            <a:endParaRPr dirty="0">
              <a:latin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08C3D3-1918-9443-8AFF-FFA9A55D4509}"/>
              </a:ext>
            </a:extLst>
          </p:cNvPr>
          <p:cNvSpPr txBox="1"/>
          <p:nvPr/>
        </p:nvSpPr>
        <p:spPr>
          <a:xfrm>
            <a:off x="8153400" y="6477000"/>
            <a:ext cx="5020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13/15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53E830-23D1-6C86-093B-8C0F84714C30}"/>
              </a:ext>
            </a:extLst>
          </p:cNvPr>
          <p:cNvSpPr txBox="1"/>
          <p:nvPr/>
        </p:nvSpPr>
        <p:spPr>
          <a:xfrm>
            <a:off x="266598" y="988435"/>
            <a:ext cx="8609280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 err="1"/>
              <a:t>Tiền</a:t>
            </a:r>
            <a:r>
              <a:rPr lang="en-US" sz="2500" b="1" dirty="0"/>
              <a:t> </a:t>
            </a:r>
            <a:r>
              <a:rPr lang="en-US" sz="2500" b="1" dirty="0" err="1"/>
              <a:t>sử</a:t>
            </a:r>
            <a:r>
              <a:rPr lang="en-US" sz="2500" b="1" dirty="0"/>
              <a:t> </a:t>
            </a:r>
            <a:r>
              <a:rPr lang="en-US" sz="2500" b="1" dirty="0" err="1"/>
              <a:t>lí</a:t>
            </a:r>
            <a:r>
              <a:rPr lang="en-US" sz="2500" b="1" dirty="0"/>
              <a:t> </a:t>
            </a:r>
            <a:r>
              <a:rPr lang="en-US" sz="2500" b="1" dirty="0" err="1"/>
              <a:t>dữ</a:t>
            </a:r>
            <a:r>
              <a:rPr lang="en-US" sz="2500" b="1" dirty="0"/>
              <a:t> </a:t>
            </a:r>
            <a:r>
              <a:rPr lang="en-US" sz="2500" b="1" dirty="0" err="1"/>
              <a:t>liệu</a:t>
            </a:r>
            <a:endParaRPr lang="en-US" sz="2500" b="1" dirty="0"/>
          </a:p>
          <a:p>
            <a:r>
              <a:rPr lang="en-US" sz="2300" b="1" dirty="0"/>
              <a:t>Label encoder</a:t>
            </a:r>
            <a:r>
              <a:rPr lang="en-US" sz="2300" dirty="0"/>
              <a:t>: </a:t>
            </a:r>
            <a:r>
              <a:rPr lang="en-US" sz="2300" dirty="0" err="1"/>
              <a:t>là</a:t>
            </a:r>
            <a:r>
              <a:rPr lang="en-US" sz="2300" dirty="0"/>
              <a:t> </a:t>
            </a:r>
            <a:r>
              <a:rPr lang="en-US" sz="2300" dirty="0" err="1"/>
              <a:t>kỹ</a:t>
            </a:r>
            <a:r>
              <a:rPr lang="en-US" sz="2300" dirty="0"/>
              <a:t> </a:t>
            </a:r>
            <a:r>
              <a:rPr lang="en-US" sz="2300" dirty="0" err="1"/>
              <a:t>thuật</a:t>
            </a:r>
            <a:r>
              <a:rPr lang="en-US" sz="2300" dirty="0"/>
              <a:t> </a:t>
            </a:r>
            <a:r>
              <a:rPr lang="en-US" sz="2300" dirty="0" err="1"/>
              <a:t>tiền</a:t>
            </a:r>
            <a:r>
              <a:rPr lang="en-US" sz="2300" dirty="0"/>
              <a:t> </a:t>
            </a:r>
            <a:r>
              <a:rPr lang="en-US" sz="2300" dirty="0" err="1"/>
              <a:t>xử</a:t>
            </a:r>
            <a:r>
              <a:rPr lang="en-US" sz="2300" dirty="0"/>
              <a:t> </a:t>
            </a:r>
            <a:r>
              <a:rPr lang="en-US" sz="2300" dirty="0" err="1"/>
              <a:t>lý</a:t>
            </a:r>
            <a:r>
              <a:rPr lang="en-US" sz="2300" dirty="0"/>
              <a:t> </a:t>
            </a:r>
            <a:r>
              <a:rPr lang="en-US" sz="2300" dirty="0" err="1"/>
              <a:t>dữ</a:t>
            </a:r>
            <a:r>
              <a:rPr lang="en-US" sz="2300" dirty="0"/>
              <a:t> </a:t>
            </a:r>
            <a:r>
              <a:rPr lang="en-US" sz="2300" dirty="0" err="1"/>
              <a:t>liệu</a:t>
            </a:r>
            <a:r>
              <a:rPr lang="en-US" sz="2300" dirty="0"/>
              <a:t> </a:t>
            </a:r>
            <a:r>
              <a:rPr lang="en-US" sz="2300" dirty="0" err="1"/>
              <a:t>trong</a:t>
            </a:r>
            <a:r>
              <a:rPr lang="en-US" sz="2300" dirty="0"/>
              <a:t> </a:t>
            </a:r>
            <a:r>
              <a:rPr lang="en-US" sz="2300" dirty="0" err="1"/>
              <a:t>học</a:t>
            </a:r>
            <a:r>
              <a:rPr lang="en-US" sz="2300" dirty="0"/>
              <a:t> </a:t>
            </a:r>
            <a:r>
              <a:rPr lang="en-US" sz="2300" dirty="0" err="1"/>
              <a:t>máy</a:t>
            </a:r>
            <a:r>
              <a:rPr lang="en-US" sz="2300" dirty="0"/>
              <a:t> </a:t>
            </a:r>
            <a:r>
              <a:rPr lang="en-US" sz="2300" dirty="0" err="1"/>
              <a:t>dùng</a:t>
            </a:r>
            <a:r>
              <a:rPr lang="en-US" sz="2300" dirty="0"/>
              <a:t> </a:t>
            </a:r>
            <a:r>
              <a:rPr lang="en-US" sz="2300" dirty="0" err="1"/>
              <a:t>để</a:t>
            </a:r>
            <a:r>
              <a:rPr lang="en-US" sz="2300" dirty="0"/>
              <a:t> </a:t>
            </a:r>
            <a:r>
              <a:rPr lang="en-US" sz="2300" dirty="0" err="1"/>
              <a:t>chuyển</a:t>
            </a:r>
            <a:r>
              <a:rPr lang="en-US" sz="2300" dirty="0"/>
              <a:t> </a:t>
            </a:r>
            <a:r>
              <a:rPr lang="en-US" sz="2300" dirty="0" err="1"/>
              <a:t>đổi</a:t>
            </a:r>
            <a:r>
              <a:rPr lang="en-US" sz="2300" dirty="0"/>
              <a:t> </a:t>
            </a:r>
            <a:r>
              <a:rPr lang="en-US" sz="2300" dirty="0" err="1"/>
              <a:t>các</a:t>
            </a:r>
            <a:r>
              <a:rPr lang="en-US" sz="2300" dirty="0"/>
              <a:t> </a:t>
            </a:r>
            <a:r>
              <a:rPr lang="en-US" sz="2300" dirty="0" err="1"/>
              <a:t>biến</a:t>
            </a:r>
            <a:r>
              <a:rPr lang="en-US" sz="2300" dirty="0"/>
              <a:t> </a:t>
            </a:r>
            <a:r>
              <a:rPr lang="en-US" sz="2300" dirty="0" err="1"/>
              <a:t>phân</a:t>
            </a:r>
            <a:r>
              <a:rPr lang="en-US" sz="2300" dirty="0"/>
              <a:t> </a:t>
            </a:r>
            <a:r>
              <a:rPr lang="en-US" sz="2300" dirty="0" err="1"/>
              <a:t>loại</a:t>
            </a:r>
            <a:r>
              <a:rPr lang="en-US" sz="2300" dirty="0"/>
              <a:t> (categorical) </a:t>
            </a:r>
            <a:r>
              <a:rPr lang="en-US" sz="2300" dirty="0" err="1"/>
              <a:t>thành</a:t>
            </a:r>
            <a:r>
              <a:rPr lang="en-US" sz="2300" dirty="0"/>
              <a:t> </a:t>
            </a:r>
            <a:r>
              <a:rPr lang="en-US" sz="2300" dirty="0" err="1"/>
              <a:t>dạng</a:t>
            </a:r>
            <a:r>
              <a:rPr lang="en-US" sz="2300" dirty="0"/>
              <a:t> </a:t>
            </a:r>
            <a:r>
              <a:rPr lang="en-US" sz="2300" dirty="0" err="1"/>
              <a:t>số</a:t>
            </a:r>
            <a:r>
              <a:rPr lang="en-US" sz="2300" dirty="0"/>
              <a:t> </a:t>
            </a:r>
            <a:r>
              <a:rPr lang="en-US" sz="2300" dirty="0" err="1"/>
              <a:t>nguyên</a:t>
            </a:r>
            <a:r>
              <a:rPr lang="en-US" sz="2300" dirty="0"/>
              <a:t> (numerical)</a:t>
            </a:r>
            <a:endParaRPr lang="en-US" sz="2300" b="1" dirty="0"/>
          </a:p>
          <a:p>
            <a:endParaRPr lang="en-US" sz="2500" b="1" dirty="0"/>
          </a:p>
        </p:txBody>
      </p:sp>
      <p:pic>
        <p:nvPicPr>
          <p:cNvPr id="3074" name="Picture 2" descr="7 Must-know Techniques For Encoding Categorical Feature">
            <a:extLst>
              <a:ext uri="{FF2B5EF4-FFF2-40B4-BE49-F238E27FC236}">
                <a16:creationId xmlns:a16="http://schemas.microsoft.com/office/drawing/2014/main" id="{B5783B3B-2D67-BF3C-DB05-601209DD0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910" y="3074211"/>
            <a:ext cx="5943600" cy="3240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4683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2">
            <a:extLst>
              <a:ext uri="{FF2B5EF4-FFF2-40B4-BE49-F238E27FC236}">
                <a16:creationId xmlns:a16="http://schemas.microsoft.com/office/drawing/2014/main" id="{D87EB23A-02D4-FB48-CE3D-AA782AD63891}"/>
              </a:ext>
            </a:extLst>
          </p:cNvPr>
          <p:cNvSpPr txBox="1"/>
          <p:nvPr/>
        </p:nvSpPr>
        <p:spPr>
          <a:xfrm>
            <a:off x="548640" y="66972"/>
            <a:ext cx="3862070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Click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edit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title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style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38AD296A-71D0-04FD-6242-FA8872B3D885}"/>
              </a:ext>
            </a:extLst>
          </p:cNvPr>
          <p:cNvSpPr txBox="1"/>
          <p:nvPr/>
        </p:nvSpPr>
        <p:spPr>
          <a:xfrm>
            <a:off x="359883" y="990600"/>
            <a:ext cx="8424233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TF-IDF :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đánh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tầm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trọng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Tần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ngữ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(TF):</a:t>
            </a:r>
            <a:r>
              <a:rPr lang="vi-VN" sz="2400" dirty="0">
                <a:latin typeface="Arial" panose="020B0604020202020204" pitchFamily="34" charset="0"/>
                <a:cs typeface="Arial" panose="020B0604020202020204" pitchFamily="34" charset="0"/>
              </a:rPr>
              <a:t>TF đo lường tần suất xuất hiện của một từ trong một tài liệu cụ thể.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Tần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Tài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Nghịch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đảo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(IDF):</a:t>
            </a:r>
            <a:r>
              <a:rPr lang="vi-VN" sz="2400" dirty="0">
                <a:latin typeface="Arial" panose="020B0604020202020204" pitchFamily="34" charset="0"/>
                <a:cs typeface="Arial" panose="020B0604020202020204" pitchFamily="34" charset="0"/>
              </a:rPr>
              <a:t>IDF đo lường tầm quan trọng của một từ trong toàn bộ tập hợp tài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dirty="0">
                <a:latin typeface="Arial" panose="020B0604020202020204" pitchFamily="34" charset="0"/>
                <a:cs typeface="Arial" panose="020B0604020202020204" pitchFamily="34" charset="0"/>
              </a:rPr>
              <a:t>liệu. Nếu một từ xuất hiện trong nhiều tài liệu, giá trị IDF của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dirty="0">
                <a:latin typeface="Arial" panose="020B0604020202020204" pitchFamily="34" charset="0"/>
                <a:cs typeface="Arial" panose="020B0604020202020204" pitchFamily="34" charset="0"/>
              </a:rPr>
              <a:t>nó sẽ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dirty="0">
                <a:latin typeface="Arial" panose="020B0604020202020204" pitchFamily="34" charset="0"/>
                <a:cs typeface="Arial" panose="020B0604020202020204" pitchFamily="34" charset="0"/>
              </a:rPr>
              <a:t>hấp hơn.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object 4">
            <a:extLst>
              <a:ext uri="{FF2B5EF4-FFF2-40B4-BE49-F238E27FC236}">
                <a16:creationId xmlns:a16="http://schemas.microsoft.com/office/drawing/2014/main" id="{2A718448-E7F4-5C59-67A0-91FDB6403C0A}"/>
              </a:ext>
            </a:extLst>
          </p:cNvPr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524" y="0"/>
            <a:ext cx="9145524" cy="512063"/>
          </a:xfrm>
          <a:prstGeom prst="rect">
            <a:avLst/>
          </a:prstGeom>
        </p:spPr>
      </p:pic>
      <p:sp>
        <p:nvSpPr>
          <p:cNvPr id="16" name="object 5">
            <a:extLst>
              <a:ext uri="{FF2B5EF4-FFF2-40B4-BE49-F238E27FC236}">
                <a16:creationId xmlns:a16="http://schemas.microsoft.com/office/drawing/2014/main" id="{5E45A745-BC36-315D-17B8-3B129D1349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720" y="23876"/>
            <a:ext cx="282003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3.</a:t>
            </a:r>
            <a:r>
              <a:rPr lang="en-US" spc="-45" dirty="0"/>
              <a:t> Cài </a:t>
            </a:r>
            <a:r>
              <a:rPr lang="en-US" spc="-45" dirty="0" err="1"/>
              <a:t>đặt</a:t>
            </a:r>
            <a:r>
              <a:rPr lang="en-US" spc="-45" dirty="0"/>
              <a:t> </a:t>
            </a:r>
            <a:r>
              <a:rPr lang="en-US" spc="-45" dirty="0" err="1"/>
              <a:t>mô</a:t>
            </a:r>
            <a:r>
              <a:rPr lang="en-US" spc="-45" dirty="0"/>
              <a:t> </a:t>
            </a:r>
            <a:r>
              <a:rPr lang="en-US" spc="-45" dirty="0" err="1"/>
              <a:t>hình</a:t>
            </a:r>
            <a:endParaRPr dirty="0"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B3896E-D37E-793B-27A6-F00D1078C1C7}"/>
              </a:ext>
            </a:extLst>
          </p:cNvPr>
          <p:cNvSpPr txBox="1"/>
          <p:nvPr/>
        </p:nvSpPr>
        <p:spPr>
          <a:xfrm>
            <a:off x="8153400" y="6477000"/>
            <a:ext cx="5020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14/15</a:t>
            </a:r>
          </a:p>
        </p:txBody>
      </p:sp>
    </p:spTree>
    <p:extLst>
      <p:ext uri="{BB962C8B-B14F-4D97-AF65-F5344CB8AC3E}">
        <p14:creationId xmlns:p14="http://schemas.microsoft.com/office/powerpoint/2010/main" val="1028264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ED8E9EC2-FEB4-EA04-2094-1F7D8B4A658A}"/>
              </a:ext>
            </a:extLst>
          </p:cNvPr>
          <p:cNvSpPr txBox="1"/>
          <p:nvPr/>
        </p:nvSpPr>
        <p:spPr>
          <a:xfrm>
            <a:off x="548640" y="66972"/>
            <a:ext cx="3862070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Click</a:t>
            </a:r>
            <a:r>
              <a:rPr sz="24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edit</a:t>
            </a:r>
            <a:r>
              <a:rPr sz="24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Master</a:t>
            </a:r>
            <a:r>
              <a:rPr sz="2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title</a:t>
            </a:r>
            <a:r>
              <a:rPr sz="2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style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34430D73-FEB6-6050-353C-E9CC1360D8A1}"/>
              </a:ext>
            </a:extLst>
          </p:cNvPr>
          <p:cNvSpPr txBox="1"/>
          <p:nvPr/>
        </p:nvSpPr>
        <p:spPr>
          <a:xfrm>
            <a:off x="359883" y="990600"/>
            <a:ext cx="8424233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TF-IDF :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đánh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tầm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trọng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Tần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ngữ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(TF):</a:t>
            </a:r>
            <a:r>
              <a:rPr lang="vi-VN" sz="2400" dirty="0">
                <a:latin typeface="Arial" panose="020B0604020202020204" pitchFamily="34" charset="0"/>
                <a:cs typeface="Arial" panose="020B0604020202020204" pitchFamily="34" charset="0"/>
              </a:rPr>
              <a:t>TF đo lường tần suất xuất hiện của một từ trong một tài liệu cụ thể.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Tần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Tài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Nghịch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đảo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(IDF):</a:t>
            </a:r>
            <a:r>
              <a:rPr lang="vi-VN" sz="2400" dirty="0">
                <a:latin typeface="Arial" panose="020B0604020202020204" pitchFamily="34" charset="0"/>
                <a:cs typeface="Arial" panose="020B0604020202020204" pitchFamily="34" charset="0"/>
              </a:rPr>
              <a:t>IDF đo lường tầm quan trọng của một từ trong toàn bộ tập hợp tài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dirty="0">
                <a:latin typeface="Arial" panose="020B0604020202020204" pitchFamily="34" charset="0"/>
                <a:cs typeface="Arial" panose="020B0604020202020204" pitchFamily="34" charset="0"/>
              </a:rPr>
              <a:t>liệu. Nếu một từ xuất hiện trong nhiều tài liệu, giá trị IDF của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dirty="0">
                <a:latin typeface="Arial" panose="020B0604020202020204" pitchFamily="34" charset="0"/>
                <a:cs typeface="Arial" panose="020B0604020202020204" pitchFamily="34" charset="0"/>
              </a:rPr>
              <a:t>nó sẽ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dirty="0">
                <a:latin typeface="Arial" panose="020B0604020202020204" pitchFamily="34" charset="0"/>
                <a:cs typeface="Arial" panose="020B0604020202020204" pitchFamily="34" charset="0"/>
              </a:rPr>
              <a:t>hấp hơn.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object 4">
            <a:extLst>
              <a:ext uri="{FF2B5EF4-FFF2-40B4-BE49-F238E27FC236}">
                <a16:creationId xmlns:a16="http://schemas.microsoft.com/office/drawing/2014/main" id="{C695CB72-E7B1-D468-4B43-B0411D8EE2B6}"/>
              </a:ext>
            </a:extLst>
          </p:cNvPr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524" y="0"/>
            <a:ext cx="9145524" cy="512063"/>
          </a:xfrm>
          <a:prstGeom prst="rect">
            <a:avLst/>
          </a:prstGeom>
        </p:spPr>
      </p:pic>
      <p:sp>
        <p:nvSpPr>
          <p:cNvPr id="12" name="object 5">
            <a:extLst>
              <a:ext uri="{FF2B5EF4-FFF2-40B4-BE49-F238E27FC236}">
                <a16:creationId xmlns:a16="http://schemas.microsoft.com/office/drawing/2014/main" id="{3B3E46F0-63D3-A421-EAA2-AE5C44F487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4720" y="23876"/>
            <a:ext cx="282003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3.</a:t>
            </a:r>
            <a:r>
              <a:rPr lang="en-US" spc="-45" dirty="0"/>
              <a:t> Cài </a:t>
            </a:r>
            <a:r>
              <a:rPr lang="en-US" spc="-45" dirty="0" err="1"/>
              <a:t>đặt</a:t>
            </a:r>
            <a:r>
              <a:rPr lang="en-US" spc="-45" dirty="0"/>
              <a:t> </a:t>
            </a:r>
            <a:r>
              <a:rPr lang="en-US" spc="-45" dirty="0" err="1"/>
              <a:t>mô</a:t>
            </a:r>
            <a:r>
              <a:rPr lang="en-US" spc="-45" dirty="0"/>
              <a:t> </a:t>
            </a:r>
            <a:r>
              <a:rPr lang="en-US" spc="-45" dirty="0" err="1"/>
              <a:t>hình</a:t>
            </a:r>
            <a:endParaRPr dirty="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C7190B-B3F0-8A86-CBC9-BB3AB2D86E33}"/>
              </a:ext>
            </a:extLst>
          </p:cNvPr>
          <p:cNvSpPr txBox="1"/>
          <p:nvPr/>
        </p:nvSpPr>
        <p:spPr>
          <a:xfrm>
            <a:off x="8153400" y="6477000"/>
            <a:ext cx="5020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14/15</a:t>
            </a:r>
          </a:p>
        </p:txBody>
      </p:sp>
    </p:spTree>
    <p:extLst>
      <p:ext uri="{BB962C8B-B14F-4D97-AF65-F5344CB8AC3E}">
        <p14:creationId xmlns:p14="http://schemas.microsoft.com/office/powerpoint/2010/main" val="4159462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FC2D7-7F7A-3769-1B38-99A9263E8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7EEA8-84D3-6648-6012-BEAC2F6A90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WordArt 7">
            <a:extLst>
              <a:ext uri="{FF2B5EF4-FFF2-40B4-BE49-F238E27FC236}">
                <a16:creationId xmlns:a16="http://schemas.microsoft.com/office/drawing/2014/main" id="{917AA48A-2B9E-F022-6EE2-C3A911266FC9}"/>
              </a:ext>
            </a:extLst>
          </p:cNvPr>
          <p:cNvSpPr>
            <a:spLocks noChangeArrowheads="1" noChangeShapeType="1" noTextEdit="1"/>
          </p:cNvSpPr>
          <p:nvPr/>
        </p:nvSpPr>
        <p:spPr bwMode="gray">
          <a:xfrm>
            <a:off x="1752600" y="2133600"/>
            <a:ext cx="5486400" cy="14478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26227"/>
              </a:avLst>
            </a:prstTxWarp>
          </a:bodyPr>
          <a:lstStyle/>
          <a:p>
            <a:pPr algn="ctr"/>
            <a:r>
              <a:rPr lang="en-US" sz="5400" b="1" kern="10" dirty="0">
                <a:ln w="2857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rgbClr val="92D050"/>
                </a:solidFill>
                <a:effectLst>
                  <a:outerShdw dist="107763" dir="2700000" algn="ctr" rotWithShape="0">
                    <a:srgbClr val="000000">
                      <a:alpha val="50000"/>
                    </a:srgbClr>
                  </a:outerShdw>
                </a:effectLst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Thank You !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661887A-28B2-84C5-479D-5F007F17B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7703" y="3581422"/>
            <a:ext cx="5331296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0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imes New Roman" pitchFamily="18" charset="0"/>
                <a:ea typeface="微軟正黑體" pitchFamily="34" charset="-120"/>
                <a:cs typeface="Times New Roman" pitchFamily="18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Times New Roman" pitchFamily="18" charset="0"/>
                <a:ea typeface="微軟正黑體" pitchFamily="34" charset="-120"/>
                <a:cs typeface="Times New Roman" pitchFamily="18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p"/>
              <a:defRPr kumimoji="1" sz="2000">
                <a:solidFill>
                  <a:schemeClr val="tx1"/>
                </a:solidFill>
                <a:latin typeface="Times New Roman" pitchFamily="18" charset="0"/>
                <a:ea typeface="微軟正黑體" pitchFamily="34" charset="-120"/>
                <a:cs typeface="Times New Roman" pitchFamily="18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微軟正黑體" pitchFamily="34" charset="-120"/>
                <a:cs typeface="Times New Roman" pitchFamily="18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微軟正黑體" pitchFamily="34" charset="-120"/>
                <a:cs typeface="Times New Roman" pitchFamily="18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None/>
            </a:pPr>
            <a:r>
              <a:rPr lang="en-US" altLang="en-US" sz="6000" kern="0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Question?</a:t>
            </a:r>
          </a:p>
        </p:txBody>
      </p:sp>
    </p:spTree>
    <p:extLst>
      <p:ext uri="{BB962C8B-B14F-4D97-AF65-F5344CB8AC3E}">
        <p14:creationId xmlns:p14="http://schemas.microsoft.com/office/powerpoint/2010/main" val="729703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1829</TotalTime>
  <Words>1016</Words>
  <Application>Microsoft Office PowerPoint</Application>
  <PresentationFormat>On-screen Show (4:3)</PresentationFormat>
  <Paragraphs>126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Arial (Body)</vt:lpstr>
      <vt:lpstr>Calibri</vt:lpstr>
      <vt:lpstr>Times New Roman</vt:lpstr>
      <vt:lpstr>Office Theme</vt:lpstr>
      <vt:lpstr>  Machine Learning</vt:lpstr>
      <vt:lpstr>Content</vt:lpstr>
      <vt:lpstr>1. Tổng quan bài toán</vt:lpstr>
      <vt:lpstr>1. Tổng quan bài toán</vt:lpstr>
      <vt:lpstr>2. Mô hình học máy</vt:lpstr>
      <vt:lpstr>2. Mô hình học máy</vt:lpstr>
      <vt:lpstr>2. Mô hình học máy</vt:lpstr>
      <vt:lpstr>2. Mô hình học máy</vt:lpstr>
      <vt:lpstr>3. Cài đặt mô hình</vt:lpstr>
      <vt:lpstr>3. Cài đặt mô hình</vt:lpstr>
      <vt:lpstr>3. Cài đặt mô hình</vt:lpstr>
      <vt:lpstr>3. Cài đặt mô hình</vt:lpstr>
      <vt:lpstr>3. Cài đặt mô hình</vt:lpstr>
      <vt:lpstr>3. Cài đặt mô hình</vt:lpstr>
      <vt:lpstr>3. Cài đặt mô hình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2 - Xu ly du lieu lon voi Spark DataFrame- Nguyen Van Quyet</dc:title>
  <dc:creator>Quyet Nguyen</dc:creator>
  <cp:lastModifiedBy>Huy Vũ</cp:lastModifiedBy>
  <cp:revision>97</cp:revision>
  <dcterms:created xsi:type="dcterms:W3CDTF">2025-12-02T16:14:49Z</dcterms:created>
  <dcterms:modified xsi:type="dcterms:W3CDTF">2025-12-30T16:48:20Z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2025-12-02T00:00:00Z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2025-12-02T00:00:00Z</vt:filetime>
  </property>
  <property fmtid="{D5CDD505-2E9C-101B-9397-08002B2CF9AE}" pid="5" name="Producer">
    <vt:lpwstr>3-Heights(TM) PDF Security Shell 4.8.25.2 (http://www.pdf-tools.com)</vt:lpwstr>
  </property>
</Properties>
</file>